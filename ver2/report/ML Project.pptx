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18"/>
    <p:sldId id="270" r:id="rId19"/>
    <p:sldId id="271" r:id="rId20"/>
    <p:sldId id="276" r:id="rId25"/>
    <p:sldId id="277" r:id="rId26"/>
    <p:sldId id="278" r:id="rId27"/>
    <p:sldId id="268" r:id="rId17"/>
    <p:sldId id="272" r:id="rId21"/>
    <p:sldId id="273" r:id="rId22"/>
    <p:sldId id="274" r:id="rId23"/>
    <p:sldId id="275" r:id="rId24"/>
    <p:sldId id="279" r:id="rId28"/>
    <p:sldId id="280" r:id="rId29"/>
    <p:sldId id="281" r:id="rId30"/>
    <p:sldId id="282" r:id="rId31"/>
  </p:sldIdLst>
  <p:sldSz cy="6858000" cx="12192000"/>
  <p:notesSz cx="6858000" cy="9144000"/>
  <p:embeddedFontLst>
    <p:embeddedFont>
      <p:font typeface="Lato"/>
      <p:regular r:id="rId32"/>
      <p:bold r:id="rId33"/>
      <p:italic r:id="rId34"/>
      <p:boldItalic r:id="rId35"/>
    </p:embeddedFont>
    <p:embeddedFont>
      <p:font typeface="Poppins SemiBol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jz4BtrHbZD5A0MYhvaiS9BVlkk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9.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font" Target="fonts/Lato-regular.fntdata"/><Relationship Id="rId33" Type="http://schemas.openxmlformats.org/officeDocument/2006/relationships/font" Target="fonts/Lato-bold.fntdata"/><Relationship Id="rId34" Type="http://schemas.openxmlformats.org/officeDocument/2006/relationships/font" Target="fonts/Lato-italic.fntdata"/><Relationship Id="rId35" Type="http://schemas.openxmlformats.org/officeDocument/2006/relationships/font" Target="fonts/Lato-boldItalic.fntdata"/><Relationship Id="rId36" Type="http://schemas.openxmlformats.org/officeDocument/2006/relationships/font" Target="fonts/PoppinsSemiBold-regular.fntdata"/><Relationship Id="rId37" Type="http://schemas.openxmlformats.org/officeDocument/2006/relationships/font" Target="fonts/PoppinsSemiBold-bold.fntdata"/><Relationship Id="rId38" Type="http://schemas.openxmlformats.org/officeDocument/2006/relationships/font" Target="fonts/PoppinsSemiBold-italic.fntdata"/><Relationship Id="rId39" Type="http://schemas.openxmlformats.org/officeDocument/2006/relationships/font" Target="fonts/PoppinsSemiBold-boldItalic.fntdata"/><Relationship Id="rId4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71badf95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g3b71badf95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g3b71badf95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45c1434f2_16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945c1434f2_16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3945c1434f2_16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f57e2e50d_11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g3ef57e2e50d_11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3ef57e2e50d_11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f57e2e50d_1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3ef57e2e50d_11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g3ef57e2e50d_11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f57e2e50d_1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ef57e2e50d_1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g3ef57e2e50d_1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f57e2e50d_1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ef57e2e50d_11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3ef57e2e50d_11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f57e2e50d_11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ef57e2e50d_11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f57e2e50d_11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f57e2e50d_11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ef57e2e50d_11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3ef57e2e50d_11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f57e2e50d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ef57e2e50d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f57e2e50d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f57e2e50d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ef57e2e50d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3ef57e2e50d_0_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f57e2e50d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ef57e2e50d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3ef57e2e50d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f57e2e50d_1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ef57e2e50d_11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g3ef57e2e50d_11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f57e2e50d_11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ef57e2e50d_11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3ef57e2e50d_11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f57e2e50d_11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ef57e2e50d_11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3ef57e2e50d_11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f57e2e50d_11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3ef57e2e50d_11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3ef57e2e50d_11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f72bb2be1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ef72bb2be1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3ef72bb2be1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ef72bb2be1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ef72bb2be1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g3ef72bb2be1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f72bb2be1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ef72bb2be1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ef72bb2be1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ef57e2e50d_1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ef57e2e50d_1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g3ef57e2e50d_1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f72bb2be1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ef72bb2be1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g3ef72bb2be1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ef72bb2be1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ef72bb2be1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g3ef72bb2be1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f57e2e50d_11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3ef57e2e50d_11_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g3ef57e2e50d_11_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f57e2e50d_2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3ef57e2e50d_21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summarize, the completed parts are EDA, preprocessing, time-based splitting, leakage audit, and Stage 1 training.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key lesson from the EDA is that high performance can be misleading if the model is allowed to use subreddit information. That is why the modeling pipeline is designed to be subreddit-blind.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next steps are to assemble out-of-fold p_text predictions, train LightGBM, evaluate once on the 2022 test set, and run final error analysis.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For future extensions, we can improve probability calibration using Platt scaling, test cross-lingual robustness, and collect a more balanced dataset where labels are less tied to subreddit membership.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91" name="Google Shape;291;g3ef57e2e50d_21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ef57e2e50d_29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ef57e2e50d_29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50">
                <a:latin typeface="Arial"/>
                <a:ea typeface="Arial"/>
                <a:cs typeface="Arial"/>
                <a:sym typeface="Arial"/>
              </a:rPr>
              <a:t>This final slide shows how inference works for one Reddit post.</a:t>
            </a:r>
            <a:endParaRPr sz="1050">
              <a:latin typeface="Arial"/>
              <a:ea typeface="Arial"/>
              <a:cs typeface="Arial"/>
              <a:sym typeface="Arial"/>
            </a:endParaRPr>
          </a:p>
          <a:p>
            <a:pPr indent="0" lvl="0" marL="0" rtl="0" algn="l">
              <a:lnSpc>
                <a:spcPct val="100000"/>
              </a:lnSpc>
              <a:spcBef>
                <a:spcPts val="0"/>
              </a:spcBef>
              <a:spcAft>
                <a:spcPts val="0"/>
              </a:spcAft>
              <a:buSzPts val="1400"/>
              <a:buNone/>
            </a:pPr>
            <a:r>
              <a:t/>
            </a:r>
            <a:endParaRPr sz="1050">
              <a:latin typeface="Arial"/>
              <a:ea typeface="Arial"/>
              <a:cs typeface="Arial"/>
              <a:sym typeface="Arial"/>
            </a:endParaRPr>
          </a:p>
          <a:p>
            <a:pPr indent="0" lvl="0" marL="0" rtl="0" algn="l">
              <a:lnSpc>
                <a:spcPct val="100000"/>
              </a:lnSpc>
              <a:spcBef>
                <a:spcPts val="0"/>
              </a:spcBef>
              <a:spcAft>
                <a:spcPts val="0"/>
              </a:spcAft>
              <a:buSzPts val="1400"/>
              <a:buNone/>
            </a:pPr>
            <a:r>
              <a:rPr lang="en-US" sz="1050">
                <a:latin typeface="Arial"/>
                <a:ea typeface="Arial"/>
                <a:cs typeface="Arial"/>
                <a:sym typeface="Arial"/>
              </a:rPr>
              <a:t>On the left is an example hard case. The title is very short, and the body may be empty or contain very little information. There may be no obvious mental-health keyword.</a:t>
            </a:r>
            <a:endParaRPr sz="1050">
              <a:latin typeface="Arial"/>
              <a:ea typeface="Arial"/>
              <a:cs typeface="Arial"/>
              <a:sym typeface="Arial"/>
            </a:endParaRPr>
          </a:p>
          <a:p>
            <a:pPr indent="0" lvl="0" marL="0" rtl="0" algn="l">
              <a:lnSpc>
                <a:spcPct val="100000"/>
              </a:lnSpc>
              <a:spcBef>
                <a:spcPts val="0"/>
              </a:spcBef>
              <a:spcAft>
                <a:spcPts val="0"/>
              </a:spcAft>
              <a:buSzPts val="1400"/>
              <a:buNone/>
            </a:pPr>
            <a:r>
              <a:t/>
            </a:r>
            <a:endParaRPr sz="1050">
              <a:latin typeface="Arial"/>
              <a:ea typeface="Arial"/>
              <a:cs typeface="Arial"/>
              <a:sym typeface="Arial"/>
            </a:endParaRPr>
          </a:p>
          <a:p>
            <a:pPr indent="0" lvl="0" marL="0" rtl="0" algn="l">
              <a:lnSpc>
                <a:spcPct val="100000"/>
              </a:lnSpc>
              <a:spcBef>
                <a:spcPts val="0"/>
              </a:spcBef>
              <a:spcAft>
                <a:spcPts val="0"/>
              </a:spcAft>
              <a:buSzPts val="1400"/>
              <a:buNone/>
            </a:pPr>
            <a:r>
              <a:rPr lang="en-US" sz="1050">
                <a:latin typeface="Arial"/>
                <a:ea typeface="Arial"/>
                <a:cs typeface="Arial"/>
                <a:sym typeface="Arial"/>
              </a:rPr>
              <a:t>This type of case is difficult because a simple keyword-based model may fail. It also shows why we must not use subreddit as an input.</a:t>
            </a:r>
            <a:endParaRPr sz="1050">
              <a:latin typeface="Arial"/>
              <a:ea typeface="Arial"/>
              <a:cs typeface="Arial"/>
              <a:sym typeface="Arial"/>
            </a:endParaRPr>
          </a:p>
          <a:p>
            <a:pPr indent="0" lvl="0" marL="0" rtl="0" algn="l">
              <a:lnSpc>
                <a:spcPct val="100000"/>
              </a:lnSpc>
              <a:spcBef>
                <a:spcPts val="0"/>
              </a:spcBef>
              <a:spcAft>
                <a:spcPts val="0"/>
              </a:spcAft>
              <a:buSzPts val="1400"/>
              <a:buNone/>
            </a:pPr>
            <a:r>
              <a:t/>
            </a:r>
            <a:endParaRPr sz="1050">
              <a:latin typeface="Arial"/>
              <a:ea typeface="Arial"/>
              <a:cs typeface="Arial"/>
              <a:sym typeface="Arial"/>
            </a:endParaRPr>
          </a:p>
          <a:p>
            <a:pPr indent="0" lvl="0" marL="0" rtl="0" algn="l">
              <a:lnSpc>
                <a:spcPct val="100000"/>
              </a:lnSpc>
              <a:spcBef>
                <a:spcPts val="0"/>
              </a:spcBef>
              <a:spcAft>
                <a:spcPts val="0"/>
              </a:spcAft>
              <a:buSzPts val="1400"/>
              <a:buNone/>
            </a:pPr>
            <a:r>
              <a:rPr lang="en-US" sz="1050">
                <a:latin typeface="Arial"/>
                <a:ea typeface="Arial"/>
                <a:cs typeface="Arial"/>
                <a:sym typeface="Arial"/>
              </a:rPr>
              <a:t>On the right is the inference pipeline. First, we take the raw Reddit post. Then we clean the title and body. Next, we apply head-and-tail tokenization and send the text to MentalRoBERTa with LoRA.</a:t>
            </a:r>
            <a:endParaRPr sz="1050">
              <a:latin typeface="Arial"/>
              <a:ea typeface="Arial"/>
              <a:cs typeface="Arial"/>
              <a:sym typeface="Arial"/>
            </a:endParaRPr>
          </a:p>
          <a:p>
            <a:pPr indent="0" lvl="0" marL="0" rtl="0" algn="l">
              <a:lnSpc>
                <a:spcPct val="100000"/>
              </a:lnSpc>
              <a:spcBef>
                <a:spcPts val="0"/>
              </a:spcBef>
              <a:spcAft>
                <a:spcPts val="0"/>
              </a:spcAft>
              <a:buSzPts val="1400"/>
              <a:buNone/>
            </a:pPr>
            <a:r>
              <a:t/>
            </a:r>
            <a:endParaRPr sz="1050">
              <a:latin typeface="Arial"/>
              <a:ea typeface="Arial"/>
              <a:cs typeface="Arial"/>
              <a:sym typeface="Arial"/>
            </a:endParaRPr>
          </a:p>
          <a:p>
            <a:pPr indent="0" lvl="0" marL="0" rtl="0" algn="l">
              <a:lnSpc>
                <a:spcPct val="100000"/>
              </a:lnSpc>
              <a:spcBef>
                <a:spcPts val="0"/>
              </a:spcBef>
              <a:spcAft>
                <a:spcPts val="0"/>
              </a:spcAft>
              <a:buSzPts val="1400"/>
              <a:buNone/>
            </a:pPr>
            <a:r>
              <a:rPr lang="en-US" sz="1050">
                <a:latin typeface="Arial"/>
                <a:ea typeface="Arial"/>
                <a:cs typeface="Arial"/>
                <a:sym typeface="Arial"/>
              </a:rPr>
              <a:t>The text model outputs p_text, which is the text-based probability. Then we add post-level metadata features such as body length, engagement, and posting time.</a:t>
            </a:r>
            <a:endParaRPr sz="1050">
              <a:latin typeface="Arial"/>
              <a:ea typeface="Arial"/>
              <a:cs typeface="Arial"/>
              <a:sym typeface="Arial"/>
            </a:endParaRPr>
          </a:p>
          <a:p>
            <a:pPr indent="0" lvl="0" marL="0" rtl="0" algn="l">
              <a:lnSpc>
                <a:spcPct val="100000"/>
              </a:lnSpc>
              <a:spcBef>
                <a:spcPts val="0"/>
              </a:spcBef>
              <a:spcAft>
                <a:spcPts val="0"/>
              </a:spcAft>
              <a:buSzPts val="1400"/>
              <a:buNone/>
            </a:pPr>
            <a:r>
              <a:t/>
            </a:r>
            <a:endParaRPr sz="1050">
              <a:latin typeface="Arial"/>
              <a:ea typeface="Arial"/>
              <a:cs typeface="Arial"/>
              <a:sym typeface="Arial"/>
            </a:endParaRPr>
          </a:p>
          <a:p>
            <a:pPr indent="0" lvl="0" marL="0" rtl="0" algn="l">
              <a:lnSpc>
                <a:spcPct val="100000"/>
              </a:lnSpc>
              <a:spcBef>
                <a:spcPts val="0"/>
              </a:spcBef>
              <a:spcAft>
                <a:spcPts val="0"/>
              </a:spcAft>
              <a:buSzPts val="1400"/>
              <a:buNone/>
            </a:pPr>
            <a:r>
              <a:rPr lang="en-US" sz="1050">
                <a:latin typeface="Arial"/>
                <a:ea typeface="Arial"/>
                <a:cs typeface="Arial"/>
                <a:sym typeface="Arial"/>
              </a:rPr>
              <a:t>Finally, LightGBM produces the final probability.</a:t>
            </a:r>
            <a:endParaRPr sz="1050">
              <a:latin typeface="Arial"/>
              <a:ea typeface="Arial"/>
              <a:cs typeface="Arial"/>
              <a:sym typeface="Arial"/>
            </a:endParaRPr>
          </a:p>
          <a:p>
            <a:pPr indent="0" lvl="0" marL="0" rtl="0" algn="l">
              <a:lnSpc>
                <a:spcPct val="100000"/>
              </a:lnSpc>
              <a:spcBef>
                <a:spcPts val="0"/>
              </a:spcBef>
              <a:spcAft>
                <a:spcPts val="0"/>
              </a:spcAft>
              <a:buSzPts val="1400"/>
              <a:buNone/>
            </a:pPr>
            <a:r>
              <a:t/>
            </a:r>
            <a:endParaRPr sz="1050">
              <a:latin typeface="Arial"/>
              <a:ea typeface="Arial"/>
              <a:cs typeface="Arial"/>
              <a:sym typeface="Arial"/>
            </a:endParaRPr>
          </a:p>
          <a:p>
            <a:pPr indent="0" lvl="0" marL="0" rtl="0" algn="l">
              <a:lnSpc>
                <a:spcPct val="100000"/>
              </a:lnSpc>
              <a:spcBef>
                <a:spcPts val="0"/>
              </a:spcBef>
              <a:spcAft>
                <a:spcPts val="0"/>
              </a:spcAft>
              <a:buSzPts val="1400"/>
              <a:buNone/>
            </a:pPr>
            <a:r>
              <a:rPr lang="en-US" sz="1050">
                <a:latin typeface="Arial"/>
                <a:ea typeface="Arial"/>
                <a:cs typeface="Arial"/>
                <a:sym typeface="Arial"/>
              </a:rPr>
              <a:t>The most important point is that subreddit is not used as model input. It is only used later for diagnostic analysis.</a:t>
            </a:r>
            <a:endParaRPr sz="1050">
              <a:latin typeface="Arial"/>
              <a:ea typeface="Arial"/>
              <a:cs typeface="Arial"/>
              <a:sym typeface="Arial"/>
            </a:endParaRPr>
          </a:p>
          <a:p>
            <a:pPr indent="0" lvl="0" marL="0" rtl="0" algn="l">
              <a:lnSpc>
                <a:spcPct val="100000"/>
              </a:lnSpc>
              <a:spcBef>
                <a:spcPts val="0"/>
              </a:spcBef>
              <a:spcAft>
                <a:spcPts val="0"/>
              </a:spcAft>
              <a:buSzPts val="1400"/>
              <a:buNone/>
            </a:pPr>
            <a:r>
              <a:t/>
            </a:r>
            <a:endParaRPr sz="1050">
              <a:latin typeface="Arial"/>
              <a:ea typeface="Arial"/>
              <a:cs typeface="Arial"/>
              <a:sym typeface="Arial"/>
            </a:endParaRPr>
          </a:p>
          <a:p>
            <a:pPr indent="0" lvl="0" marL="0" rtl="0" algn="l">
              <a:lnSpc>
                <a:spcPct val="100000"/>
              </a:lnSpc>
              <a:spcBef>
                <a:spcPts val="0"/>
              </a:spcBef>
              <a:spcAft>
                <a:spcPts val="0"/>
              </a:spcAft>
              <a:buSzPts val="1400"/>
              <a:buNone/>
            </a:pPr>
            <a:r>
              <a:rPr lang="en-US" sz="1050">
                <a:latin typeface="Arial"/>
                <a:ea typeface="Arial"/>
                <a:cs typeface="Arial"/>
                <a:sym typeface="Arial"/>
              </a:rPr>
              <a:t>That concludes my presentation. Thank you for listening. I am ready for questions.</a:t>
            </a:r>
            <a:endParaRPr sz="1050">
              <a:latin typeface="Arial"/>
              <a:ea typeface="Arial"/>
              <a:cs typeface="Arial"/>
              <a:sym typeface="Arial"/>
            </a:endParaRPr>
          </a:p>
        </p:txBody>
      </p:sp>
      <p:sp>
        <p:nvSpPr>
          <p:cNvPr id="310" name="Google Shape;310;g3ef57e2e50d_29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b5242a6a1a_0_3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3b5242a6a1a_0_3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 name="Google Shape;17;p16"/>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 name="Google Shape;18;p16"/>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 name="Google Shape;19;p16"/>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 name="Google Shape;20;p1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17"/>
          <p:cNvSpPr txBox="1"/>
          <p:nvPr>
            <p:ph idx="10" type="dt"/>
          </p:nvPr>
        </p:nvSpPr>
        <p:spPr>
          <a:xfrm>
            <a:off x="838200" y="6492875"/>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 name="Google Shape;23;p17"/>
          <p:cNvSpPr txBox="1"/>
          <p:nvPr>
            <p:ph idx="11" type="ftr"/>
          </p:nvPr>
        </p:nvSpPr>
        <p:spPr>
          <a:xfrm>
            <a:off x="4038600" y="6492875"/>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4" name="Google Shape;24;p1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rgbClr val="FFFFFF"/>
        </a:solidFill>
      </p:bgPr>
    </p:bg>
    <p:spTree>
      <p:nvGrpSpPr>
        <p:cNvPr id="25" name="Shape 25"/>
        <p:cNvGrpSpPr/>
        <p:nvPr/>
      </p:nvGrpSpPr>
      <p:grpSpPr>
        <a:xfrm>
          <a:off x="0" y="0"/>
          <a:ext cx="0" cy="0"/>
          <a:chOff x="0" y="0"/>
          <a:chExt cx="0" cy="0"/>
        </a:xfrm>
      </p:grpSpPr>
      <p:sp>
        <p:nvSpPr>
          <p:cNvPr id="26" name="Google Shape;26;p18"/>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7" name="Google Shape;27;p18"/>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8" name="Google Shape;28;p1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1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 name="Google Shape;30;p18"/>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rgbClr val="FFFFFF"/>
        </a:solidFill>
      </p:bgPr>
    </p:bg>
    <p:spTree>
      <p:nvGrpSpPr>
        <p:cNvPr id="31" name="Shape 31"/>
        <p:cNvGrpSpPr/>
        <p:nvPr/>
      </p:nvGrpSpPr>
      <p:grpSpPr>
        <a:xfrm>
          <a:off x="0" y="0"/>
          <a:ext cx="0" cy="0"/>
          <a:chOff x="0" y="0"/>
          <a:chExt cx="0" cy="0"/>
        </a:xfrm>
      </p:grpSpPr>
      <p:sp>
        <p:nvSpPr>
          <p:cNvPr id="32" name="Google Shape;32;p1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3" name="Google Shape;33;p1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4" name="Google Shape;34;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6" name="Google Shape;36;p19"/>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19"/>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solidFill>
          <a:srgbClr val="FFFFFF"/>
        </a:solidFill>
      </p:bgPr>
    </p:bg>
    <p:spTree>
      <p:nvGrpSpPr>
        <p:cNvPr id="38" name="Shape 38"/>
        <p:cNvGrpSpPr/>
        <p:nvPr/>
      </p:nvGrpSpPr>
      <p:grpSpPr>
        <a:xfrm>
          <a:off x="0" y="0"/>
          <a:ext cx="0" cy="0"/>
          <a:chOff x="0" y="0"/>
          <a:chExt cx="0" cy="0"/>
        </a:xfrm>
      </p:grpSpPr>
      <p:sp>
        <p:nvSpPr>
          <p:cNvPr id="39" name="Google Shape;39;p20"/>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0" name="Google Shape;40;p20"/>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2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2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3" name="Google Shape;43;p20"/>
          <p:cNvSpPr/>
          <p:nvPr>
            <p:ph idx="2" type="chart"/>
          </p:nvPr>
        </p:nvSpPr>
        <p:spPr>
          <a:xfrm>
            <a:off x="338736" y="1406525"/>
            <a:ext cx="5757264" cy="46704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20"/>
          <p:cNvSpPr/>
          <p:nvPr>
            <p:ph idx="3" type="tbl"/>
          </p:nvPr>
        </p:nvSpPr>
        <p:spPr>
          <a:xfrm>
            <a:off x="6210300" y="1392239"/>
            <a:ext cx="5592763" cy="4684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45" name="Shape 45"/>
        <p:cNvGrpSpPr/>
        <p:nvPr/>
      </p:nvGrpSpPr>
      <p:grpSpPr>
        <a:xfrm>
          <a:off x="0" y="0"/>
          <a:ext cx="0" cy="0"/>
          <a:chOff x="0" y="0"/>
          <a:chExt cx="0" cy="0"/>
        </a:xfrm>
      </p:grpSpPr>
      <p:sp>
        <p:nvSpPr>
          <p:cNvPr id="46" name="Google Shape;46;p21"/>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7" name="Google Shape;47;p21"/>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2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21"/>
          <p:cNvSpPr txBox="1"/>
          <p:nvPr>
            <p:ph idx="1" type="body"/>
          </p:nvPr>
        </p:nvSpPr>
        <p:spPr>
          <a:xfrm>
            <a:off x="4558372" y="1248325"/>
            <a:ext cx="7391400" cy="52054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21"/>
          <p:cNvSpPr txBox="1"/>
          <p:nvPr>
            <p:ph type="title"/>
          </p:nvPr>
        </p:nvSpPr>
        <p:spPr>
          <a:xfrm>
            <a:off x="4558372" y="404265"/>
            <a:ext cx="7391400"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Lato"/>
              <a:buNone/>
              <a:defRPr b="1" i="0" sz="2800" u="none" cap="none" strike="noStrike">
                <a:solidFill>
                  <a:schemeClr val="dk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solidFill>
          <a:srgbClr val="FFFFFF"/>
        </a:solidFill>
      </p:bgPr>
    </p:bg>
    <p:spTree>
      <p:nvGrpSpPr>
        <p:cNvPr id="51" name="Shape 51"/>
        <p:cNvGrpSpPr/>
        <p:nvPr/>
      </p:nvGrpSpPr>
      <p:grpSpPr>
        <a:xfrm>
          <a:off x="0" y="0"/>
          <a:ext cx="0" cy="0"/>
          <a:chOff x="0" y="0"/>
          <a:chExt cx="0" cy="0"/>
        </a:xfrm>
      </p:grpSpPr>
      <p:sp>
        <p:nvSpPr>
          <p:cNvPr id="52" name="Google Shape;52;p22"/>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3" name="Google Shape;53;p22"/>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22"/>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22"/>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6" name="Google Shape;56;p2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solidFill>
          <a:srgbClr val="FFFFFF"/>
        </a:solidFill>
      </p:bgPr>
    </p:bg>
    <p:spTree>
      <p:nvGrpSpPr>
        <p:cNvPr id="57" name="Shape 57"/>
        <p:cNvGrpSpPr/>
        <p:nvPr/>
      </p:nvGrpSpPr>
      <p:grpSpPr>
        <a:xfrm>
          <a:off x="0" y="0"/>
          <a:ext cx="0" cy="0"/>
          <a:chOff x="0" y="0"/>
          <a:chExt cx="0" cy="0"/>
        </a:xfrm>
      </p:grpSpPr>
      <p:sp>
        <p:nvSpPr>
          <p:cNvPr id="58" name="Google Shape;58;p2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2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0" name="Google Shape;60;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61" name="Google Shape;61;p2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p23"/>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 name="Google Shape;63;p23"/>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solidFill>
          <a:srgbClr val="FFFFFF"/>
        </a:solidFill>
      </p:bgPr>
    </p:bg>
    <p:spTree>
      <p:nvGrpSpPr>
        <p:cNvPr id="64" name="Shape 64"/>
        <p:cNvGrpSpPr/>
        <p:nvPr/>
      </p:nvGrpSpPr>
      <p:grpSpPr>
        <a:xfrm>
          <a:off x="0" y="0"/>
          <a:ext cx="0" cy="0"/>
          <a:chOff x="0" y="0"/>
          <a:chExt cx="0" cy="0"/>
        </a:xfrm>
      </p:grpSpPr>
      <p:sp>
        <p:nvSpPr>
          <p:cNvPr id="65" name="Google Shape;65;p2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24"/>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7" name="Google Shape;67;p24"/>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24"/>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2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solidFill>
          <a:srgbClr val="FFFFFF"/>
        </a:solidFill>
      </p:bgPr>
    </p:bg>
    <p:spTree>
      <p:nvGrpSpPr>
        <p:cNvPr id="70" name="Shape 70"/>
        <p:cNvGrpSpPr/>
        <p:nvPr/>
      </p:nvGrpSpPr>
      <p:grpSpPr>
        <a:xfrm>
          <a:off x="0" y="0"/>
          <a:ext cx="0" cy="0"/>
          <a:chOff x="0" y="0"/>
          <a:chExt cx="0" cy="0"/>
        </a:xfrm>
      </p:grpSpPr>
      <p:sp>
        <p:nvSpPr>
          <p:cNvPr id="71" name="Google Shape;71;p2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2" name="Google Shape;72;p2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3" name="Google Shape;73;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74" name="Google Shape;74;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5" name="Google Shape;75;p25"/>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6" name="Google Shape;76;p25"/>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FFFFFF"/>
        </a:solidFill>
      </p:bgPr>
    </p:bg>
    <p:spTree>
      <p:nvGrpSpPr>
        <p:cNvPr id="77" name="Shape 77"/>
        <p:cNvGrpSpPr/>
        <p:nvPr/>
      </p:nvGrpSpPr>
      <p:grpSpPr>
        <a:xfrm>
          <a:off x="0" y="0"/>
          <a:ext cx="0" cy="0"/>
          <a:chOff x="0" y="0"/>
          <a:chExt cx="0" cy="0"/>
        </a:xfrm>
      </p:grpSpPr>
      <p:sp>
        <p:nvSpPr>
          <p:cNvPr id="78" name="Google Shape;78;p26"/>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41.png"/><Relationship Id="rId6"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43.png"/><Relationship Id="rId6"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5.png"/><Relationship Id="rId6"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33.png"/><Relationship Id="rId5" Type="http://schemas.openxmlformats.org/officeDocument/2006/relationships/image" Target="../media/image54.png"/><Relationship Id="rId6"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56.png"/><Relationship Id="rId6"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48.png"/><Relationship Id="rId6"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51.png"/><Relationship Id="rId6"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27.png"/><Relationship Id="rId5" Type="http://schemas.openxmlformats.org/officeDocument/2006/relationships/image" Target="../media/image36.png"/><Relationship Id="rId6" Type="http://schemas.openxmlformats.org/officeDocument/2006/relationships/image" Target="../media/image30.png"/><Relationship Id="rId7" Type="http://schemas.openxmlformats.org/officeDocument/2006/relationships/image" Target="../media/image29.png"/><Relationship Id="rId8"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39.png"/><Relationship Id="rId5" Type="http://schemas.openxmlformats.org/officeDocument/2006/relationships/image" Target="../media/image38.png"/><Relationship Id="rId6"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2"/>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88" name="Google Shape;88;p2"/>
          <p:cNvSpPr txBox="1"/>
          <p:nvPr/>
        </p:nvSpPr>
        <p:spPr>
          <a:xfrm>
            <a:off x="386625" y="2263226"/>
            <a:ext cx="9462900" cy="1785000"/>
          </a:xfrm>
          <a:prstGeom prst="rect">
            <a:avLst/>
          </a:prstGeom>
          <a:noFill/>
          <a:ln>
            <a:noFill/>
          </a:ln>
        </p:spPr>
        <p:txBody>
          <a:bodyPr anchorCtr="0" anchor="t" bIns="45700" lIns="91425" spcFirstLastPara="1" rIns="91425" wrap="square" tIns="45700">
            <a:noAutofit/>
          </a:bodyPr>
          <a:lstStyle/>
          <a:p>
            <a:r>
              <a:t>Depression diagnosis via social media posts</a:t>
            </a:r>
          </a:p>
        </p:txBody>
      </p:sp>
      <p:sp>
        <p:nvSpPr>
          <p:cNvPr id="89" name="Google Shape;89;p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r>
              <a:t>‹#›</a:t>
            </a:r>
          </a:p>
        </p:txBody>
      </p:sp>
      <p:sp>
        <p:nvSpPr>
          <p:cNvPr id="90" name="Google Shape;90;p2"/>
          <p:cNvSpPr txBox="1"/>
          <p:nvPr/>
        </p:nvSpPr>
        <p:spPr>
          <a:xfrm>
            <a:off x="386634" y="4364040"/>
            <a:ext cx="1895100" cy="848700"/>
          </a:xfrm>
          <a:prstGeom prst="rect">
            <a:avLst/>
          </a:prstGeom>
          <a:noFill/>
          <a:ln>
            <a:noFill/>
          </a:ln>
        </p:spPr>
        <p:txBody>
          <a:bodyPr anchorCtr="0" anchor="t" bIns="45700" lIns="91425" spcFirstLastPara="1" rIns="91425" wrap="square" tIns="45700">
            <a:noAutofit/>
          </a:bodyPr>
          <a:lstStyle/>
          <a:p>
            <a:r>
              <a:t>- Team 13 -</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b71badf954_0_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97" name="Google Shape;97;g3b71badf954_0_0"/>
          <p:cNvSpPr txBox="1"/>
          <p:nvPr/>
        </p:nvSpPr>
        <p:spPr>
          <a:xfrm>
            <a:off x="4596025" y="75471"/>
            <a:ext cx="3000000" cy="523200"/>
          </a:xfrm>
          <a:prstGeom prst="rect">
            <a:avLst/>
          </a:prstGeom>
          <a:noFill/>
          <a:ln>
            <a:noFill/>
          </a:ln>
        </p:spPr>
        <p:txBody>
          <a:bodyPr anchorCtr="0" anchor="t" bIns="91425" lIns="91425" spcFirstLastPara="1" rIns="91425" wrap="square" tIns="91425">
            <a:spAutoFit/>
          </a:bodyPr>
          <a:lstStyle/>
          <a:p>
            <a:r>
              <a:t>TEAM MEMBERS</a:t>
            </a:r>
          </a:p>
        </p:txBody>
      </p:sp>
      <p:sp>
        <p:nvSpPr>
          <p:cNvPr id="98" name="Google Shape;98;g3b71badf954_0_0"/>
          <p:cNvSpPr txBox="1"/>
          <p:nvPr/>
        </p:nvSpPr>
        <p:spPr>
          <a:xfrm>
            <a:off x="2587825" y="2197754"/>
            <a:ext cx="7016400" cy="2637300"/>
          </a:xfrm>
          <a:prstGeom prst="rect">
            <a:avLst/>
          </a:prstGeom>
          <a:noFill/>
          <a:ln>
            <a:noFill/>
          </a:ln>
        </p:spPr>
        <p:txBody>
          <a:bodyPr anchorCtr="0" anchor="t" bIns="91425" lIns="91425" spcFirstLastPara="1" rIns="91425" wrap="square" tIns="91425">
            <a:spAutoFit/>
          </a:bodyPr>
          <a:lstStyle/>
          <a:p>
            <a:r>
              <a:t>Nguyễn Trọng Minh (20235976)</a:t>
            </a:r>
          </a:p>
          <a:p>
            <a:r>
              <a:t>Nguyễn Lê Hưng (20235942)</a:t>
            </a:r>
          </a:p>
          <a:p>
            <a:r>
              <a:t>Nguyễn Anh Đức (20235914)</a:t>
            </a:r>
          </a:p>
          <a:p>
            <a:r>
              <a:t>Phạm Xuân Tuấn (20236010)</a:t>
            </a:r>
          </a:p>
          <a:p>
            <a:r>
              <a:t>Đồng Đại Huy (20235945)</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945c1434f2_16_14"/>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DEFINITION &amp; PURPOSE</a:t>
            </a:r>
          </a:p>
        </p:txBody>
      </p:sp>
      <p:sp>
        <p:nvSpPr>
          <p:cNvPr id="105" name="Google Shape;105;g3945c1434f2_16_14"/>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106" name="TextBox 105"/>
          <p:cNvSpPr txBox="1"/>
          <p:nvPr/>
        </p:nvSpPr>
        <p:spPr>
          <a:xfrm>
            <a:off x="457200" y="1280160"/>
            <a:ext cx="8229600" cy="4114800"/>
          </a:xfrm>
          <a:prstGeom prst="rect">
            <a:avLst/>
          </a:prstGeom>
          <a:noFill/>
        </p:spPr>
        <p:txBody>
          <a:bodyPr wrap="square">
            <a:spAutoFit/>
          </a:bodyPr>
          <a:lstStyle/>
          <a:p>
            <a:r>
              <a:rPr sz="1600"/>
              <a:t>Definition: Binary classification — depression-related (1) vs normal (0) from title+body + metadata.</a:t>
            </a:r>
          </a:p>
          <a:p/>
          <a:p>
            <a:r>
              <a:rPr sz="1600"/>
              <a:t>Mechanism: Stage 1 MentalRoBERTa+LoRA outputs p_text; Stage 2 LightGBM on p_text + 38 metadata (39 inputs).</a:t>
            </a:r>
          </a:p>
          <a:p/>
          <a:p>
            <a:r>
              <a:rPr sz="1600"/>
              <a:t>Purpose: Subreddit-blind screening for real-world social posts (not just Reddit).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ef57e2e50d_11_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Why not a single model?</a:t>
            </a:r>
          </a:p>
        </p:txBody>
      </p:sp>
      <p:sp>
        <p:nvSpPr>
          <p:cNvPr id="113" name="Google Shape;113;g3ef57e2e50d_11_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114" name="Google Shape;114;g3ef57e2e50d_11_3" title="Ảnh màn hình 2026-06-25 lúc 22.44.30.png"/>
          <p:cNvPicPr preferRelativeResize="0"/>
          <p:nvPr/>
        </p:nvPicPr>
        <p:blipFill>
          <a:blip r:embed="rId3">
            <a:alphaModFix/>
          </a:blip>
          <a:stretch>
            <a:fillRect/>
          </a:stretch>
        </p:blipFill>
        <p:spPr>
          <a:xfrm>
            <a:off x="1027150" y="1124838"/>
            <a:ext cx="4079350" cy="4863525"/>
          </a:xfrm>
          <a:prstGeom prst="rect">
            <a:avLst/>
          </a:prstGeom>
          <a:noFill/>
          <a:ln>
            <a:noFill/>
          </a:ln>
        </p:spPr>
      </p:pic>
      <p:sp>
        <p:nvSpPr>
          <p:cNvPr id="115" name="Google Shape;115;g3ef57e2e50d_11_3"/>
          <p:cNvSpPr txBox="1"/>
          <p:nvPr/>
        </p:nvSpPr>
        <p:spPr>
          <a:xfrm>
            <a:off x="5783850" y="2459250"/>
            <a:ext cx="4693500" cy="3109200"/>
          </a:xfrm>
          <a:prstGeom prst="rect">
            <a:avLst/>
          </a:prstGeom>
          <a:solidFill>
            <a:schemeClr val="lt1"/>
          </a:solidFill>
          <a:ln>
            <a:noFill/>
          </a:ln>
        </p:spPr>
        <p:txBody>
          <a:bodyPr anchorCtr="0" anchor="t" bIns="91425" lIns="91425" spcFirstLastPara="1" rIns="91425" wrap="square" tIns="91425">
            <a:spAutoFit/>
          </a:bodyPr>
          <a:lstStyle/>
          <a:p>
            <a:r>
              <a:t>Text and metadata provide complementary signals</a:t>
            </a:r>
          </a:p>
          <a:p>
            <a:r>
              <a:t>Modular design — debug each stage independently</a:t>
            </a:r>
          </a:p>
          <a:p>
            <a:r>
              <a:t>Enables ablation: text-only vs meta-only vs full ensemble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ef57e2e50d_11_11"/>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DATASET OVERVIEW</a:t>
            </a:r>
          </a:p>
        </p:txBody>
      </p:sp>
      <p:sp>
        <p:nvSpPr>
          <p:cNvPr id="122" name="Google Shape;122;g3ef57e2e50d_11_11"/>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124" name="Google Shape;124;g3ef57e2e50d_11_11"/>
          <p:cNvSpPr txBox="1"/>
          <p:nvPr/>
        </p:nvSpPr>
        <p:spPr>
          <a:xfrm>
            <a:off x="8170850" y="2474688"/>
            <a:ext cx="3523200" cy="1908600"/>
          </a:xfrm>
          <a:prstGeom prst="rect">
            <a:avLst/>
          </a:prstGeom>
          <a:noFill/>
          <a:ln>
            <a:noFill/>
          </a:ln>
        </p:spPr>
        <p:txBody>
          <a:bodyPr anchorCtr="0" anchor="t" bIns="91425" lIns="91425" spcFirstLastPara="1" rIns="91425" wrap="square" tIns="91425">
            <a:spAutoFit/>
          </a:bodyPr>
          <a:lstStyle/>
          <a:p>
            <a:r>
              <a:t>2,470,778 Reddit posts (Jan 2008 – Dec 2022)</a:t>
            </a:r>
          </a:p>
          <a:p>
            <a:r>
              <a:t>8 columns: id, subreddit, title, body, upvotes, created_utc, num_comments, label</a:t>
            </a:r>
          </a:p>
          <a:p>
            <a:r>
              <a:t>Task: binary classification (0 = normal, 1 = depression-related)</a:t>
            </a:r>
          </a:p>
        </p:txBody>
      </p:sp>
      <p:pic>
        <p:nvPicPr>
          <p:cNvPr id="125" name="Picture 124" descr="top20_subreddits.png"/>
          <p:cNvPicPr>
            <a:picLocks noChangeAspect="1"/>
          </p:cNvPicPr>
          <p:nvPr/>
        </p:nvPicPr>
        <p:blipFill>
          <a:blip r:embed="rId4"/>
          <a:stretch>
            <a:fillRect/>
          </a:stretch>
        </p:blipFill>
        <p:spPr>
          <a:xfrm>
            <a:off x="338725" y="1453274"/>
            <a:ext cx="7534525" cy="44682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ef57e2e50d_11_19"/>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DATA QUALITY ISSUES &amp; PREPROCESSING</a:t>
            </a:r>
          </a:p>
        </p:txBody>
      </p:sp>
      <p:sp>
        <p:nvSpPr>
          <p:cNvPr id="131" name="Google Shape;131;g3ef57e2e50d_11_19"/>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132" name="Google Shape;132;g3ef57e2e50d_11_19"/>
          <p:cNvSpPr txBox="1"/>
          <p:nvPr/>
        </p:nvSpPr>
        <p:spPr>
          <a:xfrm>
            <a:off x="1005325" y="1735800"/>
            <a:ext cx="6473100" cy="3386400"/>
          </a:xfrm>
          <a:prstGeom prst="rect">
            <a:avLst/>
          </a:prstGeom>
          <a:noFill/>
          <a:ln>
            <a:noFill/>
          </a:ln>
        </p:spPr>
        <p:txBody>
          <a:bodyPr anchorCtr="0" anchor="t" bIns="91425" lIns="91425" spcFirstLastPara="1" rIns="91425" wrap="square" tIns="91425">
            <a:spAutoFit/>
          </a:bodyPr>
          <a:lstStyle/>
          <a:p>
            <a:r>
              <a:t>Missing &amp; invalid text</a:t>
            </a:r>
          </a:p>
          <a:p>
            <a:r>
              <a:t>18.7% posts: body empty / [removed] / [deleted]</a:t>
            </a:r>
          </a:p>
          <a:p>
            <a:r>
              <a:t>4.6% missing num_comments</a:t>
            </a:r>
          </a:p>
          <a:p>
            <a:r>
              <a:t>Title missing: negligible (0.0009%)</a:t>
            </a:r>
          </a:p>
          <a:p>
            <a:r>
              <a:t>Duplicates &amp; noise</a:t>
            </a:r>
          </a:p>
          <a:p>
            <a:r>
              <a:t>Body duplicates (≥40 chars): 0.35% (8,526 rows)</a:t>
            </a:r>
          </a:p>
          <a:p>
            <a:r>
              <a:t>id duplicates: negligible (3 rows)</a:t>
            </a:r>
          </a:p>
          <a:p>
            <a:r>
              <a:t>Extreme distributions</a:t>
            </a:r>
          </a:p>
          <a:p>
            <a:r>
              <a:t>Body length highly skewed: median 103 chars, max 65,781</a:t>
            </a:r>
          </a:p>
          <a:p>
            <a:r>
              <a:t>Upvotes skewness 37.4, comments 69.8</a:t>
            </a:r>
          </a:p>
          <a:p>
            <a:r>
              <a:t>Language</a:t>
            </a:r>
          </a:p>
          <a:p>
            <a:r>
              <a:t>96.1% English (langdetect, n=50K sample)</a:t>
            </a:r>
          </a:p>
          <a:p>
            <a:r>
              <a:t>~3.9% other languages / noise–</a:t>
            </a:r>
          </a:p>
        </p:txBody>
      </p:sp>
      <p:pic>
        <p:nvPicPr>
          <p:cNvPr id="133" name="Picture 132" descr="hist_body_chars.png"/>
          <p:cNvPicPr>
            <a:picLocks noChangeAspect="1"/>
          </p:cNvPicPr>
          <p:nvPr/>
        </p:nvPicPr>
        <p:blipFill>
          <a:blip r:embed="rId3"/>
          <a:stretch>
            <a:fillRect/>
          </a:stretch>
        </p:blipFill>
        <p:spPr>
          <a:xfrm>
            <a:off x="4572000" y="1097280"/>
            <a:ext cx="4114800" cy="411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ef57e2e50d_11_27"/>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SUBREDDIT ≈ LABEL (DATA LEAKAGE)</a:t>
            </a:r>
          </a:p>
        </p:txBody>
      </p:sp>
      <p:sp>
        <p:nvSpPr>
          <p:cNvPr id="139" name="Google Shape;139;g3ef57e2e50d_11_27"/>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141" name="Google Shape;141;g3ef57e2e50d_11_27"/>
          <p:cNvPicPr preferRelativeResize="0"/>
          <p:nvPr/>
        </p:nvPicPr>
        <p:blipFill>
          <a:blip r:embed="rId4">
            <a:alphaModFix/>
          </a:blip>
          <a:stretch>
            <a:fillRect/>
          </a:stretch>
        </p:blipFill>
        <p:spPr>
          <a:xfrm>
            <a:off x="6255025" y="1726238"/>
            <a:ext cx="5404476" cy="2602150"/>
          </a:xfrm>
          <a:prstGeom prst="rect">
            <a:avLst/>
          </a:prstGeom>
          <a:noFill/>
          <a:ln>
            <a:noFill/>
          </a:ln>
        </p:spPr>
      </p:pic>
      <p:sp>
        <p:nvSpPr>
          <p:cNvPr id="142" name="Google Shape;142;g3ef57e2e50d_11_27"/>
          <p:cNvSpPr txBox="1"/>
          <p:nvPr/>
        </p:nvSpPr>
        <p:spPr>
          <a:xfrm>
            <a:off x="2358500" y="4842850"/>
            <a:ext cx="8163600" cy="431100"/>
          </a:xfrm>
          <a:prstGeom prst="rect">
            <a:avLst/>
          </a:prstGeom>
          <a:noFill/>
          <a:ln>
            <a:noFill/>
          </a:ln>
        </p:spPr>
        <p:txBody>
          <a:bodyPr anchorCtr="0" anchor="t" bIns="91425" lIns="91425" spcFirstLastPara="1" rIns="91425" wrap="square" tIns="91425">
            <a:spAutoFit/>
          </a:bodyPr>
          <a:lstStyle/>
          <a:p>
            <a:r>
              <a:t>Including subreddit = including the answer. Our reported metrics are subreddit-blind.</a:t>
            </a:r>
          </a:p>
        </p:txBody>
      </p:sp>
      <p:pic>
        <p:nvPicPr>
          <p:cNvPr id="143" name="Picture 142" descr="scatter_subreddit_n_vs_label_rate.png"/>
          <p:cNvPicPr>
            <a:picLocks noChangeAspect="1"/>
          </p:cNvPicPr>
          <p:nvPr/>
        </p:nvPicPr>
        <p:blipFill>
          <a:blip r:embed="rId6"/>
          <a:stretch>
            <a:fillRect/>
          </a:stretch>
        </p:blipFill>
        <p:spPr>
          <a:xfrm>
            <a:off x="338725" y="1540910"/>
            <a:ext cx="5482275" cy="29728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f57e2e50d_11_35"/>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REAL TEXT SIGNALS EXIST BEYOND SUBREDDIT</a:t>
            </a:r>
          </a:p>
        </p:txBody>
      </p:sp>
      <p:sp>
        <p:nvSpPr>
          <p:cNvPr id="149" name="Google Shape;149;g3ef57e2e50d_11_35"/>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151" name="Google Shape;151;g3ef57e2e50d_11_35"/>
          <p:cNvPicPr preferRelativeResize="0"/>
          <p:nvPr/>
        </p:nvPicPr>
        <p:blipFill>
          <a:blip r:embed="rId4">
            <a:alphaModFix/>
          </a:blip>
          <a:stretch>
            <a:fillRect/>
          </a:stretch>
        </p:blipFill>
        <p:spPr>
          <a:xfrm>
            <a:off x="6646525" y="1358202"/>
            <a:ext cx="4726075" cy="2833351"/>
          </a:xfrm>
          <a:prstGeom prst="rect">
            <a:avLst/>
          </a:prstGeom>
          <a:noFill/>
          <a:ln>
            <a:noFill/>
          </a:ln>
        </p:spPr>
      </p:pic>
      <p:pic>
        <p:nvPicPr>
          <p:cNvPr id="152" name="Picture 151" descr="lexical_lift_label1_over_label0.png"/>
          <p:cNvPicPr>
            <a:picLocks noChangeAspect="1"/>
          </p:cNvPicPr>
          <p:nvPr/>
        </p:nvPicPr>
        <p:blipFill>
          <a:blip r:embed="rId6"/>
          <a:stretch>
            <a:fillRect/>
          </a:stretch>
        </p:blipFill>
        <p:spPr>
          <a:xfrm>
            <a:off x="494150" y="1383763"/>
            <a:ext cx="5288500" cy="2782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ef57e2e50d_11_4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TEMPORAL DRIFT: WHY NOT RANDOM SPLIT?</a:t>
            </a:r>
          </a:p>
        </p:txBody>
      </p:sp>
      <p:sp>
        <p:nvSpPr>
          <p:cNvPr id="158" name="Google Shape;158;g3ef57e2e50d_11_4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160" name="Google Shape;160;g3ef57e2e50d_11_43"/>
          <p:cNvSpPr txBox="1"/>
          <p:nvPr/>
        </p:nvSpPr>
        <p:spPr>
          <a:xfrm>
            <a:off x="728300" y="5013163"/>
            <a:ext cx="5148000" cy="400200"/>
          </a:xfrm>
          <a:prstGeom prst="rect">
            <a:avLst/>
          </a:prstGeom>
          <a:noFill/>
          <a:ln>
            <a:noFill/>
          </a:ln>
        </p:spPr>
        <p:txBody>
          <a:bodyPr anchorCtr="0" anchor="t" bIns="91425" lIns="91425" spcFirstLastPara="1" rIns="91425" wrap="square" tIns="91425">
            <a:spAutoFit/>
          </a:bodyPr>
          <a:lstStyle/>
          <a:p>
            <a:r>
              <a:t>Label rate swings wildly across years</a:t>
            </a:r>
          </a:p>
        </p:txBody>
      </p:sp>
      <p:pic>
        <p:nvPicPr>
          <p:cNvPr id="161" name="Google Shape;161;g3ef57e2e50d_11_43"/>
          <p:cNvPicPr preferRelativeResize="0"/>
          <p:nvPr/>
        </p:nvPicPr>
        <p:blipFill>
          <a:blip r:embed="rId4">
            <a:alphaModFix/>
          </a:blip>
          <a:stretch>
            <a:fillRect/>
          </a:stretch>
        </p:blipFill>
        <p:spPr>
          <a:xfrm>
            <a:off x="6495925" y="1581650"/>
            <a:ext cx="4967575" cy="2863450"/>
          </a:xfrm>
          <a:prstGeom prst="rect">
            <a:avLst/>
          </a:prstGeom>
          <a:noFill/>
          <a:ln>
            <a:noFill/>
          </a:ln>
        </p:spPr>
      </p:pic>
      <p:sp>
        <p:nvSpPr>
          <p:cNvPr id="162" name="Google Shape;162;g3ef57e2e50d_11_43"/>
          <p:cNvSpPr txBox="1"/>
          <p:nvPr/>
        </p:nvSpPr>
        <p:spPr>
          <a:xfrm>
            <a:off x="6496075" y="4820725"/>
            <a:ext cx="4967700" cy="585000"/>
          </a:xfrm>
          <a:prstGeom prst="rect">
            <a:avLst/>
          </a:prstGeom>
          <a:noFill/>
          <a:ln>
            <a:noFill/>
          </a:ln>
        </p:spPr>
        <p:txBody>
          <a:bodyPr anchorCtr="0" anchor="t" bIns="91425" lIns="91425" spcFirstLastPara="1" rIns="91425" wrap="square" tIns="91425">
            <a:spAutoFit/>
          </a:bodyPr>
          <a:lstStyle/>
          <a:p>
            <a:r>
              <a:t>Volume also shifts (peak 2019 = 27.1%) — composition changes, not just volume</a:t>
            </a:r>
          </a:p>
        </p:txBody>
      </p:sp>
      <p:pic>
        <p:nvPicPr>
          <p:cNvPr id="163" name="Picture 162" descr="posts_by_year.png"/>
          <p:cNvPicPr>
            <a:picLocks noChangeAspect="1"/>
          </p:cNvPicPr>
          <p:nvPr/>
        </p:nvPicPr>
        <p:blipFill>
          <a:blip r:embed="rId6"/>
          <a:stretch>
            <a:fillRect/>
          </a:stretch>
        </p:blipFill>
        <p:spPr>
          <a:xfrm>
            <a:off x="728225" y="1444637"/>
            <a:ext cx="5147974" cy="3137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f57e2e50d_0_6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TOKEN LENGTH ANALYSIS &amp; CHOOSING MAX_LENGTH</a:t>
            </a:r>
          </a:p>
        </p:txBody>
      </p:sp>
      <p:sp>
        <p:nvSpPr>
          <p:cNvPr id="169" name="Google Shape;169;g3ef57e2e50d_0_6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171" name="Google Shape;171;g3ef57e2e50d_0_63"/>
          <p:cNvSpPr txBox="1"/>
          <p:nvPr/>
        </p:nvSpPr>
        <p:spPr>
          <a:xfrm>
            <a:off x="2121475" y="5051125"/>
            <a:ext cx="8572500" cy="785100"/>
          </a:xfrm>
          <a:prstGeom prst="rect">
            <a:avLst/>
          </a:prstGeom>
          <a:noFill/>
          <a:ln>
            <a:noFill/>
          </a:ln>
        </p:spPr>
        <p:txBody>
          <a:bodyPr anchorCtr="0" anchor="t" bIns="91425" lIns="91425" spcFirstLastPara="1" rIns="91425" wrap="square" tIns="91425">
            <a:spAutoFit/>
          </a:bodyPr>
          <a:lstStyle/>
          <a:p>
            <a:r>
              <a:t>RoBERTa fixed window — choose max_length balancing coverage vs compute.</a:t>
            </a:r>
          </a:p>
          <a:p>
            <a:r>
              <a:t>max_length=512 covers 96.6% of posts; head+tail truncation for the rest.</a:t>
            </a:r>
          </a:p>
        </p:txBody>
      </p:sp>
      <p:pic>
        <p:nvPicPr>
          <p:cNvPr id="172" name="Picture 171" descr="hist_token_lens_pair.png"/>
          <p:cNvPicPr>
            <a:picLocks noChangeAspect="1"/>
          </p:cNvPicPr>
          <p:nvPr/>
        </p:nvPicPr>
        <p:blipFill>
          <a:blip r:embed="rId4"/>
          <a:stretch>
            <a:fillRect/>
          </a:stretch>
        </p:blipFill>
        <p:spPr>
          <a:xfrm>
            <a:off x="2869624" y="1127475"/>
            <a:ext cx="6452801" cy="378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ef57e2e50d_0_7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PREPROCESSING PIPELINE</a:t>
            </a:r>
          </a:p>
        </p:txBody>
      </p:sp>
      <p:sp>
        <p:nvSpPr>
          <p:cNvPr id="178" name="Google Shape;178;g3ef57e2e50d_0_7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179" name="Google Shape;179;g3ef57e2e50d_0_73" title="Ảnh màn hình 2026-06-25 lúc 23.39.15.png"/>
          <p:cNvPicPr preferRelativeResize="0"/>
          <p:nvPr/>
        </p:nvPicPr>
        <p:blipFill>
          <a:blip r:embed="rId3">
            <a:alphaModFix/>
          </a:blip>
          <a:stretch>
            <a:fillRect/>
          </a:stretch>
        </p:blipFill>
        <p:spPr>
          <a:xfrm>
            <a:off x="703663" y="1304925"/>
            <a:ext cx="5133975" cy="4248150"/>
          </a:xfrm>
          <a:prstGeom prst="rect">
            <a:avLst/>
          </a:prstGeom>
          <a:noFill/>
          <a:ln>
            <a:noFill/>
          </a:ln>
        </p:spPr>
      </p:pic>
      <p:sp>
        <p:nvSpPr>
          <p:cNvPr id="180" name="Google Shape;180;g3ef57e2e50d_0_73"/>
          <p:cNvSpPr txBox="1"/>
          <p:nvPr/>
        </p:nvSpPr>
        <p:spPr>
          <a:xfrm>
            <a:off x="6575675" y="1397250"/>
            <a:ext cx="4326300" cy="4063500"/>
          </a:xfrm>
          <a:prstGeom prst="rect">
            <a:avLst/>
          </a:prstGeom>
          <a:noFill/>
          <a:ln>
            <a:noFill/>
          </a:ln>
        </p:spPr>
        <p:txBody>
          <a:bodyPr anchorCtr="0" anchor="t" bIns="91425" lIns="91425" spcFirstLastPara="1" rIns="91425" wrap="square" tIns="91425">
            <a:spAutoFit/>
          </a:bodyPr>
          <a:lstStyle/>
          <a:p>
            <a:r>
              <a:t>Step 1 - Cleaning </a:t>
            </a:r>
          </a:p>
          <a:p>
            <a:r>
              <a:t>Drop null label/id, dedup body, flag removed bodies</a:t>
            </a:r>
          </a:p>
          <a:p>
            <a:r>
              <a:t>Clip upvotes &amp; comments at p99.5</a:t>
            </a:r>
          </a:p>
          <a:p>
            <a:r>
              <a:t>Replace [URL], [USER], [SUB] sentinel tokens</a:t>
            </a:r>
          </a:p>
          <a:p>
            <a:r>
              <a:t>2,470,778 → 2,470,017 rows (0.03% dropped)</a:t>
            </a:r>
          </a:p>
          <a:p>
            <a:r>
              <a:t>Step 2 - Splitting</a:t>
            </a:r>
          </a:p>
          <a:p>
            <a:r>
              <a:t>Primary: time-based (train ≤2020 / val 2021 / test 2022)</a:t>
            </a:r>
          </a:p>
          <a:p>
            <a:r>
              <a:t>OOF: 3-fold stratified on time-train (for Stage 2 stacking)</a:t>
            </a:r>
          </a:p>
          <a:p>
            <a:r>
              <a:t>Baseline: random stratified 80/10/10 (comparison only)</a:t>
            </a:r>
          </a:p>
          <a:p>
            <a:r>
              <a:t>Step 3 - Features</a:t>
            </a:r>
          </a:p>
          <a:p>
            <a:r>
              <a:t>Build 38 metadata features (29 raw + 9 engineered) (length, lexical, engagement, temporal)</a:t>
            </a:r>
          </a:p>
          <a:p>
            <a:r>
              <a:t>Subreddit-blind — subreddit saved separately for evaluation only</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ef57e2e50d_11_51"/>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1 — MentalRoBERTa + LoRA</a:t>
            </a:r>
          </a:p>
        </p:txBody>
      </p:sp>
      <p:sp>
        <p:nvSpPr>
          <p:cNvPr id="196" name="Google Shape;196;g3ef57e2e50d_11_51"/>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197" name="Google Shape;197;g3ef57e2e50d_11_51"/>
          <p:cNvSpPr txBox="1"/>
          <p:nvPr/>
        </p:nvSpPr>
        <p:spPr>
          <a:xfrm>
            <a:off x="338725" y="1067000"/>
            <a:ext cx="11024100" cy="2170200"/>
          </a:xfrm>
          <a:prstGeom prst="rect">
            <a:avLst/>
          </a:prstGeom>
          <a:noFill/>
          <a:ln>
            <a:noFill/>
          </a:ln>
        </p:spPr>
        <p:txBody>
          <a:bodyPr anchorCtr="0" anchor="t" bIns="45700" lIns="91425" spcFirstLastPara="1" rIns="91425" wrap="square" tIns="45700">
            <a:spAutoFit/>
          </a:bodyPr>
          <a:lstStyle/>
          <a:p>
            <a:r>
              <a:t>Backbone: mental/mental-roberta-base (domain-specific for mental health; fallback to roberta-base)</a:t>
            </a:r>
          </a:p>
          <a:p>
            <a:r>
              <a:t>LoRA Configurations: r=16, target modules: query + value -&gt;  only ~0.47% trainable parameters (~590K)</a:t>
            </a:r>
          </a:p>
          <a:p>
            <a:r>
              <a:t>Loss Function: BCE + pos_weight + label smoothing (0.05)</a:t>
            </a:r>
          </a:p>
          <a:p>
            <a:r>
              <a:t>Imbalance Handling: 50% undersampling of negative samples on the training fold</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ef57e2e50d_11_59"/>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Custom Classification Head</a:t>
            </a:r>
          </a:p>
        </p:txBody>
      </p:sp>
      <p:sp>
        <p:nvSpPr>
          <p:cNvPr id="205" name="Google Shape;205;g3ef57e2e50d_11_59"/>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206" name="Google Shape;206;g3ef57e2e50d_11_59"/>
          <p:cNvSpPr txBox="1"/>
          <p:nvPr/>
        </p:nvSpPr>
        <p:spPr>
          <a:xfrm>
            <a:off x="750075" y="1250700"/>
            <a:ext cx="5644800" cy="3586500"/>
          </a:xfrm>
          <a:prstGeom prst="rect">
            <a:avLst/>
          </a:prstGeom>
          <a:noFill/>
          <a:ln>
            <a:noFill/>
          </a:ln>
        </p:spPr>
        <p:txBody>
          <a:bodyPr anchorCtr="0" anchor="t" bIns="45700" lIns="91425" spcFirstLastPara="1" rIns="91425" wrap="square" tIns="45700">
            <a:spAutoFit/>
          </a:bodyPr>
          <a:lstStyle/>
          <a:p>
            <a:r>
              <a:t>4-step head: layer-weighted avg (last 4 layers) → CLS + masked-mean pool → residual FFN → Multi-Sample Dropout (K=5).</a:t>
            </a:r>
          </a:p>
          <a:p>
            <a:r>
              <a:t>Enhances generalization without full fine-tuning of ~125M backbone parameters.</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ef57e2e50d_11_67"/>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Training Setup &amp; OOF Stacking</a:t>
            </a:r>
          </a:p>
        </p:txBody>
      </p:sp>
      <p:sp>
        <p:nvSpPr>
          <p:cNvPr id="213" name="Google Shape;213;g3ef57e2e50d_11_67"/>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214" name="Google Shape;214;g3ef57e2e50d_11_67"/>
          <p:cNvSpPr txBox="1"/>
          <p:nvPr/>
        </p:nvSpPr>
        <p:spPr>
          <a:xfrm>
            <a:off x="737550" y="1037725"/>
            <a:ext cx="10716900" cy="2170200"/>
          </a:xfrm>
          <a:prstGeom prst="rect">
            <a:avLst/>
          </a:prstGeom>
          <a:noFill/>
          <a:ln>
            <a:noFill/>
          </a:ln>
        </p:spPr>
        <p:txBody>
          <a:bodyPr anchorCtr="0" anchor="t" bIns="45700" lIns="91425" spcFirstLastPara="1" rIns="91425" wrap="square" tIns="45700">
            <a:spAutoFit/>
          </a:bodyPr>
          <a:lstStyle/>
          <a:p>
            <a:r>
              <a:t>Hardware: Kaggle 2× T4 GPUs, max_length=512, effective batch size = 64</a:t>
            </a:r>
          </a:p>
          <a:p>
            <a:r>
              <a:t>Validation Strategy: 3-fold stratified OOF (Out-Of-Fold) on time-train -&gt; prevents data leakage during Stage 2 stacking</a:t>
            </a:r>
          </a:p>
          <a:p>
            <a:r>
              <a:t>Primary Metric: F1-macro</a:t>
            </a:r>
          </a:p>
          <a:p>
            <a:r>
              <a:t>Evaluation: Subset of 60K (for early stopping) + full validation set of 605K (for OOF predictions)</a:t>
            </a:r>
          </a:p>
        </p:txBody>
      </p:sp>
      <p:pic>
        <p:nvPicPr>
          <p:cNvPr id="215" name="Google Shape;215;g3ef57e2e50d_11_67"/>
          <p:cNvPicPr preferRelativeResize="0"/>
          <p:nvPr/>
        </p:nvPicPr>
        <p:blipFill>
          <a:blip r:embed="rId3">
            <a:alphaModFix/>
          </a:blip>
          <a:stretch>
            <a:fillRect/>
          </a:stretch>
        </p:blipFill>
        <p:spPr>
          <a:xfrm>
            <a:off x="5563500" y="3082600"/>
            <a:ext cx="5890949" cy="305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ef57e2e50d_11_8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1 Results — Per-fold OOF &amp; TEST</a:t>
            </a:r>
          </a:p>
        </p:txBody>
      </p:sp>
      <p:sp>
        <p:nvSpPr>
          <p:cNvPr id="258" name="Google Shape;258;g3ef57e2e50d_11_8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259" name="Google Shape;259;g3ef57e2e50d_11_83"/>
          <p:cNvSpPr txBox="1"/>
          <p:nvPr/>
        </p:nvSpPr>
        <p:spPr>
          <a:xfrm>
            <a:off x="701850" y="1051375"/>
            <a:ext cx="5280900" cy="3940500"/>
          </a:xfrm>
          <a:prstGeom prst="rect">
            <a:avLst/>
          </a:prstGeom>
          <a:noFill/>
          <a:ln>
            <a:noFill/>
          </a:ln>
        </p:spPr>
        <p:txBody>
          <a:bodyPr anchorCtr="0" anchor="t" bIns="45700" lIns="91425" spcFirstLastPara="1" rIns="91425" wrap="square" tIns="45700">
            <a:spAutoFit/>
          </a:bodyPr>
          <a:lstStyle/>
          <a:p>
            <a:r>
              <a:t>Per-fold @best-f1 (verified predictions):</a:t>
            </a:r>
          </a:p>
          <a:p>
            <a:r>
              <a:t>F0 OOF thr=0.69 f1=0.943 R_pos=0.910 | F0 TEST thr=0.62 f1=0.945 R_pos=0.925</a:t>
            </a:r>
          </a:p>
          <a:p>
            <a:r>
              <a:t>F1 OOF thr=0.77 f1=0.945 R_pos=0.918 | F1 TEST thr=0.73 f1=0.947 R_pos=0.929</a:t>
            </a:r>
          </a:p>
          <a:p>
            <a:r>
              <a:t>F2 OOF thr=0.87 f1=0.940 R_pos=0.906 | F2 TEST thr=0.84 f1=0.942 R_pos=0.915</a:t>
            </a:r>
          </a:p>
          <a:p>
            <a:r>
              <a:t>~6.4 h/fold Kaggle 2×T4 | Primary metric: F1-macro</a:t>
            </a:r>
          </a:p>
        </p:txBody>
      </p:sp>
      <p:pic>
        <p:nvPicPr>
          <p:cNvPr id="260" name="Picture 259" descr="confusion_matrices.png"/>
          <p:cNvPicPr>
            <a:picLocks noChangeAspect="1"/>
          </p:cNvPicPr>
          <p:nvPr/>
        </p:nvPicPr>
        <p:blipFill>
          <a:blip r:embed="rId4"/>
          <a:stretch>
            <a:fillRect/>
          </a:stretch>
        </p:blipFill>
        <p:spPr>
          <a:xfrm>
            <a:off x="6171325" y="980913"/>
            <a:ext cx="5868800" cy="5079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ef72bb2be1_0_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1 — TEST 2022 Ensemble Metrics</a:t>
            </a:r>
          </a:p>
        </p:txBody>
      </p:sp>
      <p:sp>
        <p:nvSpPr>
          <p:cNvPr id="267" name="Google Shape;267;g3ef72bb2be1_0_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269" name="Google Shape;269;g3ef72bb2be1_0_3"/>
          <p:cNvPicPr preferRelativeResize="0"/>
          <p:nvPr/>
        </p:nvPicPr>
        <p:blipFill>
          <a:blip r:embed="rId4">
            <a:alphaModFix/>
          </a:blip>
          <a:stretch>
            <a:fillRect/>
          </a:stretch>
        </p:blipFill>
        <p:spPr>
          <a:xfrm>
            <a:off x="5789900" y="2121818"/>
            <a:ext cx="6249701" cy="2974255"/>
          </a:xfrm>
          <a:prstGeom prst="rect">
            <a:avLst/>
          </a:prstGeom>
          <a:noFill/>
          <a:ln>
            <a:noFill/>
          </a:ln>
        </p:spPr>
      </p:pic>
      <p:pic>
        <p:nvPicPr>
          <p:cNvPr id="270" name="Picture 269" descr="s1_roc_pr.png"/>
          <p:cNvPicPr>
            <a:picLocks noChangeAspect="1"/>
          </p:cNvPicPr>
          <p:nvPr/>
        </p:nvPicPr>
        <p:blipFill>
          <a:blip r:embed="rId6"/>
          <a:stretch>
            <a:fillRect/>
          </a:stretch>
        </p:blipFill>
        <p:spPr>
          <a:xfrm>
            <a:off x="338725" y="1137050"/>
            <a:ext cx="5298775" cy="4810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ef72bb2be1_0_15"/>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1 — Calibration &amp; Score Distribution</a:t>
            </a:r>
          </a:p>
        </p:txBody>
      </p:sp>
      <p:sp>
        <p:nvSpPr>
          <p:cNvPr id="276" name="Google Shape;276;g3ef72bb2be1_0_15"/>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278" name="Google Shape;278;g3ef72bb2be1_0_15"/>
          <p:cNvPicPr preferRelativeResize="0"/>
          <p:nvPr/>
        </p:nvPicPr>
        <p:blipFill>
          <a:blip r:embed="rId4">
            <a:alphaModFix/>
          </a:blip>
          <a:stretch>
            <a:fillRect/>
          </a:stretch>
        </p:blipFill>
        <p:spPr>
          <a:xfrm>
            <a:off x="338725" y="2113573"/>
            <a:ext cx="5497892" cy="3252101"/>
          </a:xfrm>
          <a:prstGeom prst="rect">
            <a:avLst/>
          </a:prstGeom>
          <a:noFill/>
          <a:ln>
            <a:noFill/>
          </a:ln>
        </p:spPr>
      </p:pic>
      <p:pic>
        <p:nvPicPr>
          <p:cNvPr id="279" name="Picture 278" descr="s1_score_dist.png"/>
          <p:cNvPicPr>
            <a:picLocks noChangeAspect="1"/>
          </p:cNvPicPr>
          <p:nvPr/>
        </p:nvPicPr>
        <p:blipFill>
          <a:blip r:embed="rId6"/>
          <a:stretch>
            <a:fillRect/>
          </a:stretch>
        </p:blipFill>
        <p:spPr>
          <a:xfrm>
            <a:off x="6041100" y="2514949"/>
            <a:ext cx="5858601" cy="24493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ef57e2e50d_0_8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2 FEATURE SET (SUBREDDIT-BLIND)</a:t>
            </a:r>
          </a:p>
        </p:txBody>
      </p:sp>
      <p:sp>
        <p:nvSpPr>
          <p:cNvPr id="187" name="Google Shape;187;g3ef57e2e50d_0_8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188" name="Google Shape;188;g3ef57e2e50d_0_83"/>
          <p:cNvSpPr txBox="1"/>
          <p:nvPr/>
        </p:nvSpPr>
        <p:spPr>
          <a:xfrm>
            <a:off x="1236400" y="1428750"/>
            <a:ext cx="7363500" cy="1908600"/>
          </a:xfrm>
          <a:prstGeom prst="rect">
            <a:avLst/>
          </a:prstGeom>
          <a:noFill/>
          <a:ln>
            <a:noFill/>
          </a:ln>
        </p:spPr>
        <p:txBody>
          <a:bodyPr anchorCtr="0" anchor="t" bIns="91425" lIns="91425" spcFirstLastPara="1" rIns="91425" wrap="square" tIns="91425">
            <a:spAutoFit/>
          </a:bodyPr>
          <a:lstStyle/>
          <a:p>
            <a:r>
              <a:t>Stage 2 LightGBM: 39 inputs = p_text + 38 metadata (29 raw + 9 engineered).</a:t>
            </a:r>
          </a:p>
          <a:p>
            <a:r>
              <a:t>Rule: computable from one post alone — no subreddit, year, or subreddit-percentile proxies.</a:t>
            </a:r>
          </a:p>
          <a:p>
            <a:r>
              <a:t>Raw: length, engagement, lexical counts, temporal cyclical, booleans.</a:t>
            </a:r>
          </a:p>
          <a:p>
            <a:r>
              <a:t>Engineered: length-normalized rates (first_person_rate, negative_word_rate, …).</a:t>
            </a:r>
          </a:p>
        </p:txBody>
      </p:sp>
      <p:sp>
        <p:nvSpPr>
          <p:cNvPr id="189" name="Google Shape;189;g3ef57e2e50d_0_83"/>
          <p:cNvSpPr txBox="1"/>
          <p:nvPr/>
        </p:nvSpPr>
        <p:spPr>
          <a:xfrm>
            <a:off x="1571975" y="3834175"/>
            <a:ext cx="7363500" cy="1108200"/>
          </a:xfrm>
          <a:prstGeom prst="rect">
            <a:avLst/>
          </a:prstGeom>
          <a:noFill/>
          <a:ln>
            <a:noFill/>
          </a:ln>
        </p:spPr>
        <p:txBody>
          <a:bodyPr anchorCtr="0" anchor="t" bIns="91425" lIns="91425" spcFirstLastPara="1" rIns="91425" wrap="square" tIns="91425">
            <a:spAutoFit/>
          </a:bodyPr>
          <a:lstStyle/>
          <a:p/>
        </p:txBody>
      </p:sp>
      <p:pic>
        <p:nvPicPr>
          <p:cNvPr id="190" name="Picture 189" descr="mutual_info_with_label.png"/>
          <p:cNvPicPr>
            <a:picLocks noChangeAspect="1"/>
          </p:cNvPicPr>
          <p:nvPr/>
        </p:nvPicPr>
        <p:blipFill>
          <a:blip r:embed="rId3"/>
          <a:stretch>
            <a:fillRect/>
          </a:stretch>
        </p:blipFill>
        <p:spPr>
          <a:xfrm>
            <a:off x="4754880" y="1188720"/>
            <a:ext cx="3931920" cy="43891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ef57e2e50d_11_75"/>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2 — Model &amp; Tuning</a:t>
            </a:r>
          </a:p>
        </p:txBody>
      </p:sp>
      <p:sp>
        <p:nvSpPr>
          <p:cNvPr id="222" name="Google Shape;222;g3ef57e2e50d_11_75"/>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223" name="Google Shape;223;g3ef57e2e50d_11_75"/>
          <p:cNvSpPr txBox="1"/>
          <p:nvPr/>
        </p:nvSpPr>
        <p:spPr>
          <a:xfrm>
            <a:off x="651725" y="1083950"/>
            <a:ext cx="5579700" cy="5002500"/>
          </a:xfrm>
          <a:prstGeom prst="rect">
            <a:avLst/>
          </a:prstGeom>
          <a:noFill/>
          <a:ln>
            <a:noFill/>
          </a:ln>
        </p:spPr>
        <p:txBody>
          <a:bodyPr anchorCtr="0" anchor="t" bIns="45700" lIns="91425" spcFirstLastPara="1" rIns="91425" wrap="square" tIns="45700">
            <a:spAutoFit/>
          </a:bodyPr>
          <a:lstStyle/>
          <a:p>
            <a:r>
              <a:t>Input: p_text (OOF) + 38 metadata (29 raw + 9 engineered) = 39 features</a:t>
            </a:r>
          </a:p>
          <a:p>
            <a:r>
              <a:t>Ablation: A=text only | B=meta only | C=full ensemble (production)</a:t>
            </a:r>
          </a:p>
          <a:p>
            <a:r>
              <a:t>Tuning: Optuna 50 trials, class_weight='balanced'</a:t>
            </a:r>
          </a:p>
          <a:p>
            <a:r>
              <a:t>Stacking on OOF p_text prevents leakage</a:t>
            </a:r>
          </a:p>
        </p:txBody>
      </p:sp>
      <p:pic>
        <p:nvPicPr>
          <p:cNvPr id="224" name="Google Shape;224;g3ef57e2e50d_11_75"/>
          <p:cNvPicPr preferRelativeResize="0"/>
          <p:nvPr/>
        </p:nvPicPr>
        <p:blipFill>
          <a:blip r:embed="rId3">
            <a:alphaModFix/>
          </a:blip>
          <a:stretch>
            <a:fillRect/>
          </a:stretch>
        </p:blipFill>
        <p:spPr>
          <a:xfrm>
            <a:off x="6231425" y="1139800"/>
            <a:ext cx="5833251" cy="2469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ef72bb2be1_0_25"/>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2 — Calibration &amp; Confusion (TEST 2022)</a:t>
            </a:r>
          </a:p>
        </p:txBody>
      </p:sp>
      <p:sp>
        <p:nvSpPr>
          <p:cNvPr id="232" name="Google Shape;232;g3ef72bb2be1_0_25"/>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234" name="Google Shape;234;g3ef72bb2be1_0_25"/>
          <p:cNvPicPr preferRelativeResize="0"/>
          <p:nvPr/>
        </p:nvPicPr>
        <p:blipFill>
          <a:blip r:embed="rId4">
            <a:alphaModFix/>
          </a:blip>
          <a:stretch>
            <a:fillRect/>
          </a:stretch>
        </p:blipFill>
        <p:spPr>
          <a:xfrm>
            <a:off x="6021325" y="1943750"/>
            <a:ext cx="5878376" cy="3110749"/>
          </a:xfrm>
          <a:prstGeom prst="rect">
            <a:avLst/>
          </a:prstGeom>
          <a:noFill/>
          <a:ln>
            <a:noFill/>
          </a:ln>
        </p:spPr>
      </p:pic>
      <p:pic>
        <p:nvPicPr>
          <p:cNvPr id="235" name="Picture 234" descr="s2_confusion.png"/>
          <p:cNvPicPr>
            <a:picLocks noChangeAspect="1"/>
          </p:cNvPicPr>
          <p:nvPr/>
        </p:nvPicPr>
        <p:blipFill>
          <a:blip r:embed="rId6"/>
          <a:stretch>
            <a:fillRect/>
          </a:stretch>
        </p:blipFill>
        <p:spPr>
          <a:xfrm>
            <a:off x="572150" y="1040174"/>
            <a:ext cx="5162226" cy="4952125"/>
          </a:xfrm>
          <a:prstGeom prst="rect">
            <a:avLst/>
          </a:prstGeom>
        </p:spPr>
      </p:pic>
      <p:sp>
        <p:nvSpPr>
          <p:cNvPr id="236" name="TextBox 235"/>
          <p:cNvSpPr txBox="1"/>
          <p:nvPr/>
        </p:nvSpPr>
        <p:spPr>
          <a:xfrm>
            <a:off x="365760" y="5166360"/>
            <a:ext cx="8412480" cy="1143000"/>
          </a:xfrm>
          <a:prstGeom prst="rect">
            <a:avLst/>
          </a:prstGeom>
          <a:noFill/>
        </p:spPr>
        <p:txBody>
          <a:bodyPr wrap="none">
            <a:spAutoFit/>
          </a:bodyPr>
          <a:lstStyle/>
          <a:p>
            <a:r>
              <a:rPr sz="1200"/>
              <a:t>Calibration: baseline over-confident (mean_p≈0.29 vs base 0.26). Surveyed Platt/isotonic; kept baseline to prioritize positive recall.</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ef72bb2be1_0_34"/>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2 — Feature Importance</a:t>
            </a:r>
          </a:p>
        </p:txBody>
      </p:sp>
      <p:sp>
        <p:nvSpPr>
          <p:cNvPr id="241" name="Google Shape;241;g3ef72bb2be1_0_34"/>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242" name="Picture 241" descr="s2_feature_importance.png"/>
          <p:cNvPicPr>
            <a:picLocks noChangeAspect="1"/>
          </p:cNvPicPr>
          <p:nvPr/>
        </p:nvPicPr>
        <p:blipFill>
          <a:blip r:embed="rId4"/>
          <a:stretch>
            <a:fillRect/>
          </a:stretch>
        </p:blipFill>
        <p:spPr>
          <a:xfrm>
            <a:off x="3373800" y="862599"/>
            <a:ext cx="4797950" cy="54077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ef72bb2be1_0_48"/>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Stage 2 — ROC / PR &amp; p_final Distribution</a:t>
            </a:r>
          </a:p>
        </p:txBody>
      </p:sp>
      <p:sp>
        <p:nvSpPr>
          <p:cNvPr id="249" name="Google Shape;249;g3ef72bb2be1_0_48"/>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251" name="Google Shape;251;g3ef72bb2be1_0_48"/>
          <p:cNvPicPr preferRelativeResize="0"/>
          <p:nvPr/>
        </p:nvPicPr>
        <p:blipFill>
          <a:blip r:embed="rId4">
            <a:alphaModFix/>
          </a:blip>
          <a:stretch>
            <a:fillRect/>
          </a:stretch>
        </p:blipFill>
        <p:spPr>
          <a:xfrm>
            <a:off x="431613" y="1674998"/>
            <a:ext cx="4553795" cy="2693651"/>
          </a:xfrm>
          <a:prstGeom prst="rect">
            <a:avLst/>
          </a:prstGeom>
          <a:noFill/>
          <a:ln>
            <a:noFill/>
          </a:ln>
        </p:spPr>
      </p:pic>
      <p:pic>
        <p:nvPicPr>
          <p:cNvPr id="252" name="Picture 251" descr="s2_score_dist.png"/>
          <p:cNvPicPr>
            <a:picLocks noChangeAspect="1"/>
          </p:cNvPicPr>
          <p:nvPr/>
        </p:nvPicPr>
        <p:blipFill>
          <a:blip r:embed="rId6"/>
          <a:stretch>
            <a:fillRect/>
          </a:stretch>
        </p:blipFill>
        <p:spPr>
          <a:xfrm>
            <a:off x="5180299" y="1551491"/>
            <a:ext cx="6847475" cy="28627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ef57e2e50d_11_91"/>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Ablation Study A/B/C</a:t>
            </a:r>
          </a:p>
        </p:txBody>
      </p:sp>
      <p:sp>
        <p:nvSpPr>
          <p:cNvPr id="285" name="Google Shape;285;g3ef57e2e50d_11_91"/>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
        <p:nvSpPr>
          <p:cNvPr id="286" name="Google Shape;286;g3ef57e2e50d_11_91"/>
          <p:cNvSpPr txBox="1"/>
          <p:nvPr/>
        </p:nvSpPr>
        <p:spPr>
          <a:xfrm>
            <a:off x="748775" y="1166275"/>
            <a:ext cx="4918200" cy="4648500"/>
          </a:xfrm>
          <a:prstGeom prst="rect">
            <a:avLst/>
          </a:prstGeom>
          <a:noFill/>
          <a:ln>
            <a:noFill/>
          </a:ln>
        </p:spPr>
        <p:txBody>
          <a:bodyPr anchorCtr="0" anchor="t" bIns="45700" lIns="91425" spcFirstLastPara="1" rIns="91425" wrap="square" tIns="45700">
            <a:spAutoFit/>
          </a:bodyPr>
          <a:lstStyle/>
          <a:p>
            <a:r>
              <a:t>Ablation TEST 2022 (subreddit-blind, thr=0.50):</a:t>
            </a:r>
          </a:p>
          <a:p>
            <a:r>
              <a:t>A text-only: f1_macro=0.940, f1_pos=0.914</a:t>
            </a:r>
          </a:p>
          <a:p>
            <a:r>
              <a:t>B meta-only: f1_macro=0.881, f1_pos=0.826</a:t>
            </a:r>
          </a:p>
          <a:p>
            <a:r>
              <a:t>C full ensemble: f1_macro=0.951, f1_pos=0.929, recall_pos=0.966</a:t>
            </a:r>
          </a:p>
        </p:txBody>
      </p:sp>
      <p:pic>
        <p:nvPicPr>
          <p:cNvPr id="287" name="Picture 286" descr="ablation_abc.png"/>
          <p:cNvPicPr>
            <a:picLocks noChangeAspect="1"/>
          </p:cNvPicPr>
          <p:nvPr/>
        </p:nvPicPr>
        <p:blipFill>
          <a:blip r:embed="rId4"/>
          <a:stretch>
            <a:fillRect/>
          </a:stretch>
        </p:blipFill>
        <p:spPr>
          <a:xfrm>
            <a:off x="5940350" y="1108850"/>
            <a:ext cx="5808025" cy="425525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ef57e2e50d_21_88"/>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Summary &amp; Future Work</a:t>
            </a:r>
          </a:p>
        </p:txBody>
      </p:sp>
      <p:sp>
        <p:nvSpPr>
          <p:cNvPr id="294" name="Google Shape;294;g3ef57e2e50d_21_88"/>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descr="image.png" id="295" name="Google Shape;295;g3ef57e2e50d_21_88"/>
          <p:cNvPicPr preferRelativeResize="0"/>
          <p:nvPr/>
        </p:nvPicPr>
        <p:blipFill rotWithShape="1">
          <a:blip r:embed="rId3">
            <a:alphaModFix/>
          </a:blip>
          <a:srcRect b="0" l="0" r="0" t="0"/>
          <a:stretch/>
        </p:blipFill>
        <p:spPr>
          <a:xfrm>
            <a:off x="571500" y="1538021"/>
            <a:ext cx="3492549" cy="3867150"/>
          </a:xfrm>
          <a:prstGeom prst="rect">
            <a:avLst/>
          </a:prstGeom>
          <a:noFill/>
          <a:ln>
            <a:noFill/>
          </a:ln>
        </p:spPr>
      </p:pic>
      <p:pic>
        <p:nvPicPr>
          <p:cNvPr descr="image.png" id="296" name="Google Shape;296;g3ef57e2e50d_21_88"/>
          <p:cNvPicPr preferRelativeResize="0"/>
          <p:nvPr/>
        </p:nvPicPr>
        <p:blipFill rotWithShape="1">
          <a:blip r:embed="rId4">
            <a:alphaModFix/>
          </a:blip>
          <a:srcRect b="0" l="0" r="0" t="0"/>
          <a:stretch/>
        </p:blipFill>
        <p:spPr>
          <a:xfrm>
            <a:off x="4349799" y="1538021"/>
            <a:ext cx="3492549" cy="3867150"/>
          </a:xfrm>
          <a:prstGeom prst="rect">
            <a:avLst/>
          </a:prstGeom>
          <a:noFill/>
          <a:ln>
            <a:noFill/>
          </a:ln>
        </p:spPr>
      </p:pic>
      <p:pic>
        <p:nvPicPr>
          <p:cNvPr descr="image.png" id="297" name="Google Shape;297;g3ef57e2e50d_21_88"/>
          <p:cNvPicPr preferRelativeResize="0"/>
          <p:nvPr/>
        </p:nvPicPr>
        <p:blipFill rotWithShape="1">
          <a:blip r:embed="rId5">
            <a:alphaModFix/>
          </a:blip>
          <a:srcRect b="0" l="0" r="0" t="0"/>
          <a:stretch/>
        </p:blipFill>
        <p:spPr>
          <a:xfrm>
            <a:off x="8128099" y="1538021"/>
            <a:ext cx="3492549" cy="3867150"/>
          </a:xfrm>
          <a:prstGeom prst="rect">
            <a:avLst/>
          </a:prstGeom>
          <a:noFill/>
          <a:ln>
            <a:noFill/>
          </a:ln>
        </p:spPr>
      </p:pic>
      <p:sp>
        <p:nvSpPr>
          <p:cNvPr id="298" name="Google Shape;298;g3ef57e2e50d_21_88"/>
          <p:cNvSpPr txBox="1"/>
          <p:nvPr/>
        </p:nvSpPr>
        <p:spPr>
          <a:xfrm>
            <a:off x="1212562" y="2804846"/>
            <a:ext cx="2210400" cy="323100"/>
          </a:xfrm>
          <a:prstGeom prst="rect">
            <a:avLst/>
          </a:prstGeom>
          <a:noFill/>
          <a:ln>
            <a:noFill/>
          </a:ln>
        </p:spPr>
        <p:txBody>
          <a:bodyPr anchorCtr="0" anchor="t" bIns="0" lIns="0" spcFirstLastPara="1" rIns="0" wrap="square" tIns="0">
            <a:spAutoFit/>
          </a:bodyPr>
          <a:lstStyle/>
          <a:p>
            <a:r>
              <a:rPr b="1"/>
              <a:t>Completed</a:t>
            </a:r>
          </a:p>
        </p:txBody>
      </p:sp>
      <p:sp>
        <p:nvSpPr>
          <p:cNvPr id="299" name="Google Shape;299;g3ef57e2e50d_21_88"/>
          <p:cNvSpPr txBox="1"/>
          <p:nvPr/>
        </p:nvSpPr>
        <p:spPr>
          <a:xfrm>
            <a:off x="778852" y="3413700"/>
            <a:ext cx="3062100" cy="1708500"/>
          </a:xfrm>
          <a:prstGeom prst="rect">
            <a:avLst/>
          </a:prstGeom>
          <a:noFill/>
          <a:ln>
            <a:noFill/>
          </a:ln>
        </p:spPr>
        <p:txBody>
          <a:bodyPr anchorCtr="0" anchor="t" bIns="0" lIns="0" spcFirstLastPara="1" rIns="0" wrap="square" tIns="0">
            <a:spAutoFit/>
          </a:bodyPr>
          <a:lstStyle/>
          <a:p>
            <a:r>
              <a:t>Completed: EDA + preprocessing; Stage 1 + Stage 2 trained &amp; evaluated on TEST 2022; ablation A/B/C; live inference app (FB/Threads/Reddit, VI→EN, domain-mismatch handling).</a:t>
            </a:r>
          </a:p>
        </p:txBody>
      </p:sp>
      <p:sp>
        <p:nvSpPr>
          <p:cNvPr id="300" name="Google Shape;300;g3ef57e2e50d_21_88"/>
          <p:cNvSpPr txBox="1"/>
          <p:nvPr/>
        </p:nvSpPr>
        <p:spPr>
          <a:xfrm>
            <a:off x="5007110" y="2804846"/>
            <a:ext cx="2178000" cy="323100"/>
          </a:xfrm>
          <a:prstGeom prst="rect">
            <a:avLst/>
          </a:prstGeom>
          <a:noFill/>
          <a:ln>
            <a:noFill/>
          </a:ln>
        </p:spPr>
        <p:txBody>
          <a:bodyPr anchorCtr="0" anchor="t" bIns="0" lIns="0" spcFirstLastPara="1" rIns="0" wrap="square" tIns="0">
            <a:spAutoFit/>
          </a:bodyPr>
          <a:lstStyle/>
          <a:p>
            <a:r>
              <a:rPr b="1"/>
              <a:t>Future Work</a:t>
            </a:r>
          </a:p>
        </p:txBody>
      </p:sp>
      <p:sp>
        <p:nvSpPr>
          <p:cNvPr id="301" name="Google Shape;301;g3ef57e2e50d_21_88"/>
          <p:cNvSpPr txBox="1"/>
          <p:nvPr/>
        </p:nvSpPr>
        <p:spPr>
          <a:xfrm>
            <a:off x="4633875" y="3413700"/>
            <a:ext cx="2924400" cy="1708500"/>
          </a:xfrm>
          <a:prstGeom prst="rect">
            <a:avLst/>
          </a:prstGeom>
          <a:noFill/>
          <a:ln>
            <a:noFill/>
          </a:ln>
        </p:spPr>
        <p:txBody>
          <a:bodyPr anchorCtr="0" anchor="t" bIns="0" lIns="0" spcFirstLastPara="1" rIns="0" wrap="square" tIns="0">
            <a:spAutoFit/>
          </a:bodyPr>
          <a:lstStyle/>
          <a:p>
            <a:r>
              <a:t>Future: Platt/isotonic calibration, cross-lingual models, dataset balancing, cross-subreddit holdout.</a:t>
            </a:r>
          </a:p>
        </p:txBody>
      </p:sp>
      <p:sp>
        <p:nvSpPr>
          <p:cNvPr id="302" name="Google Shape;302;g3ef57e2e50d_21_88"/>
          <p:cNvSpPr txBox="1"/>
          <p:nvPr/>
        </p:nvSpPr>
        <p:spPr>
          <a:xfrm>
            <a:off x="8615899" y="2804850"/>
            <a:ext cx="2445000" cy="323100"/>
          </a:xfrm>
          <a:prstGeom prst="rect">
            <a:avLst/>
          </a:prstGeom>
          <a:noFill/>
          <a:ln>
            <a:noFill/>
          </a:ln>
        </p:spPr>
        <p:txBody>
          <a:bodyPr anchorCtr="0" anchor="t" bIns="0" lIns="0" spcFirstLastPara="1" rIns="0" wrap="square" tIns="0">
            <a:spAutoFit/>
          </a:bodyPr>
          <a:lstStyle/>
          <a:p>
            <a:r>
              <a:rPr b="1"/>
              <a:t>Open Orientation</a:t>
            </a:r>
          </a:p>
        </p:txBody>
      </p:sp>
      <p:sp>
        <p:nvSpPr>
          <p:cNvPr id="303" name="Google Shape;303;g3ef57e2e50d_21_88"/>
          <p:cNvSpPr txBox="1"/>
          <p:nvPr/>
        </p:nvSpPr>
        <p:spPr>
          <a:xfrm>
            <a:off x="8412175" y="3413700"/>
            <a:ext cx="2924400" cy="1708500"/>
          </a:xfrm>
          <a:prstGeom prst="rect">
            <a:avLst/>
          </a:prstGeom>
          <a:noFill/>
          <a:ln>
            <a:noFill/>
          </a:ln>
        </p:spPr>
        <p:txBody>
          <a:bodyPr anchorCtr="0" anchor="t" bIns="0" lIns="0" spcFirstLastPara="1" rIns="0" wrap="square" tIns="0">
            <a:spAutoFit/>
          </a:bodyPr>
          <a:lstStyle/>
          <a:p>
            <a:r>
              <a:t>In the future, it is possible to deploy Platt Scaling to calibrate probabilities, study cross-lingual models, and better balance data sets.</a:t>
            </a:r>
          </a:p>
        </p:txBody>
      </p:sp>
      <p:pic>
        <p:nvPicPr>
          <p:cNvPr descr="image.png" id="304" name="Google Shape;304;g3ef57e2e50d_21_88"/>
          <p:cNvPicPr preferRelativeResize="0"/>
          <p:nvPr/>
        </p:nvPicPr>
        <p:blipFill rotWithShape="1">
          <a:blip r:embed="rId6">
            <a:alphaModFix/>
          </a:blip>
          <a:srcRect b="0" l="0" r="0" t="0"/>
          <a:stretch/>
        </p:blipFill>
        <p:spPr>
          <a:xfrm>
            <a:off x="2051000" y="1985696"/>
            <a:ext cx="533400" cy="533400"/>
          </a:xfrm>
          <a:prstGeom prst="rect">
            <a:avLst/>
          </a:prstGeom>
          <a:noFill/>
          <a:ln>
            <a:noFill/>
          </a:ln>
        </p:spPr>
      </p:pic>
      <p:pic>
        <p:nvPicPr>
          <p:cNvPr descr="image.png" id="305" name="Google Shape;305;g3ef57e2e50d_21_88"/>
          <p:cNvPicPr preferRelativeResize="0"/>
          <p:nvPr/>
        </p:nvPicPr>
        <p:blipFill rotWithShape="1">
          <a:blip r:embed="rId7">
            <a:alphaModFix/>
          </a:blip>
          <a:srcRect b="0" l="0" r="0" t="0"/>
          <a:stretch/>
        </p:blipFill>
        <p:spPr>
          <a:xfrm>
            <a:off x="5829300" y="1985696"/>
            <a:ext cx="533400" cy="533400"/>
          </a:xfrm>
          <a:prstGeom prst="rect">
            <a:avLst/>
          </a:prstGeom>
          <a:noFill/>
          <a:ln>
            <a:noFill/>
          </a:ln>
        </p:spPr>
      </p:pic>
      <p:pic>
        <p:nvPicPr>
          <p:cNvPr descr="image.png" id="306" name="Google Shape;306;g3ef57e2e50d_21_88"/>
          <p:cNvPicPr preferRelativeResize="0"/>
          <p:nvPr/>
        </p:nvPicPr>
        <p:blipFill rotWithShape="1">
          <a:blip r:embed="rId8">
            <a:alphaModFix/>
          </a:blip>
          <a:srcRect b="0" l="0" r="0" t="0"/>
          <a:stretch/>
        </p:blipFill>
        <p:spPr>
          <a:xfrm>
            <a:off x="9607599" y="1985696"/>
            <a:ext cx="533400" cy="533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ef57e2e50d_29_2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r>
              <a:t>Demo — Live Inference App</a:t>
            </a:r>
          </a:p>
        </p:txBody>
      </p:sp>
      <p:sp>
        <p:nvSpPr>
          <p:cNvPr id="313" name="Google Shape;313;g3ef57e2e50d_29_2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pic>
        <p:nvPicPr>
          <p:cNvPr id="315" name="Google Shape;315;g3ef57e2e50d_29_20"/>
          <p:cNvPicPr preferRelativeResize="0"/>
          <p:nvPr/>
        </p:nvPicPr>
        <p:blipFill>
          <a:blip r:embed="rId4">
            <a:alphaModFix/>
          </a:blip>
          <a:stretch>
            <a:fillRect/>
          </a:stretch>
        </p:blipFill>
        <p:spPr>
          <a:xfrm>
            <a:off x="6426863" y="964862"/>
            <a:ext cx="2559275" cy="5057800"/>
          </a:xfrm>
          <a:prstGeom prst="rect">
            <a:avLst/>
          </a:prstGeom>
          <a:noFill/>
          <a:ln>
            <a:noFill/>
          </a:ln>
        </p:spPr>
      </p:pic>
      <p:sp>
        <p:nvSpPr>
          <p:cNvPr id="317" name="TextBox 316"/>
          <p:cNvSpPr txBox="1"/>
          <p:nvPr/>
        </p:nvSpPr>
        <p:spPr>
          <a:xfrm>
            <a:off x="320040" y="777240"/>
            <a:ext cx="8503920" cy="2286000"/>
          </a:xfrm>
          <a:prstGeom prst="rect">
            <a:avLst/>
          </a:prstGeom>
          <a:noFill/>
        </p:spPr>
        <p:txBody>
          <a:bodyPr wrap="none">
            <a:spAutoFit/>
          </a:bodyPr>
          <a:lstStyle/>
          <a:p>
            <a:r>
              <a:rPr sz="1300"/>
              <a:t>Live inference app (ver2/app) — FastAPI + web UI</a:t>
            </a:r>
          </a:p>
          <a:p>
            <a:r>
              <a:rPr sz="1300"/>
              <a:t>• Scrape Reddit/Facebook/Threads URL or paste text + engagement metadata</a:t>
            </a:r>
          </a:p>
          <a:p>
            <a:r>
              <a:rPr sz="1300"/>
              <a:t>• Optional VI→EN translation → Stage 1 p_text → Stage 2 p_final</a:t>
            </a:r>
          </a:p>
          <a:p>
            <a:r>
              <a:rPr sz="1300"/>
              <a:t>• Non-Reddit posts: neutralize Reddit-specific meta features (domain-mismatch)</a:t>
            </a:r>
          </a:p>
          <a:p>
            <a:r>
              <a:rPr sz="1300"/>
              <a:t>• Production: full_trainable.safetensors + stage2_lgbm.pkl</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b5242a6a1a_0_396"/>
          <p:cNvSpPr txBox="1"/>
          <p:nvPr/>
        </p:nvSpPr>
        <p:spPr>
          <a:xfrm>
            <a:off x="5605763" y="2869457"/>
            <a:ext cx="5422500" cy="971400"/>
          </a:xfrm>
          <a:prstGeom prst="rect">
            <a:avLst/>
          </a:prstGeom>
          <a:noFill/>
          <a:ln>
            <a:noFill/>
          </a:ln>
        </p:spPr>
        <p:txBody>
          <a:bodyPr anchorCtr="0" anchor="t" bIns="45700" lIns="91425" spcFirstLastPara="1" rIns="91425" wrap="square" tIns="45700">
            <a:noAutofit/>
          </a:bodyPr>
          <a:lstStyle/>
          <a:p>
            <a:r>
              <a:t>THANK YOU !</a:t>
            </a:r>
          </a:p>
        </p:txBody>
      </p:sp>
      <p:sp>
        <p:nvSpPr>
          <p:cNvPr id="322" name="Google Shape;322;g3b5242a6a1a_0_396"/>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r>
              <a: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